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 needed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119</c:v>
                </c:pt>
                <c:pt idx="1">
                  <c:v>88</c:v>
                </c:pt>
                <c:pt idx="2">
                  <c:v>87</c:v>
                </c:pt>
                <c:pt idx="3">
                  <c:v>89</c:v>
                </c:pt>
                <c:pt idx="4">
                  <c:v>91</c:v>
                </c:pt>
                <c:pt idx="5">
                  <c:v>68</c:v>
                </c:pt>
                <c:pt idx="6">
                  <c:v>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0.0"/>
          <c:min val="4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INSURANCE OPERATIONS
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4D7F6"/>
                </a:solidFill>
                <a:latin typeface="Aptos"/>
              </a:rPr>
              <a:t>Workload Forecasting &amp; Capacity Planning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0040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1E8F2"/>
                </a:solidFill>
                <a:latin typeface="Aptos"/>
              </a:rPr>
              <a:t>A simple, data-driven way to reduce backlog, improve lead time and protect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251960"/>
            <a:ext cx="7223760" cy="960120"/>
          </a:xfrm>
          <a:prstGeom prst="roundRect">
            <a:avLst/>
          </a:prstGeom>
          <a:solidFill>
            <a:srgbClr val="1F3558"/>
          </a:solidFill>
          <a:ln>
            <a:solidFill>
              <a:srgbClr val="37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622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0C3F5"/>
                </a:solidFill>
                <a:latin typeface="Aptos"/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Predict workload → plan capacity → recommend staffing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709160"/>
            <a:ext cx="1325880" cy="347472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47457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4709160"/>
            <a:ext cx="1325880" cy="347472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47457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212080"/>
            <a:ext cx="1325880" cy="347472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24865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Holt-Winters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5212080"/>
            <a:ext cx="1325880" cy="347472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524865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D7F6"/>
                </a:solidFill>
                <a:latin typeface="Aptos"/>
              </a:rPr>
              <a:t>Prepared by: [Your 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5897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 clear story from business problem to measurable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6245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624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Business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6245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3624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Objective &amp;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8541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854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KPIs — what they mean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4884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8541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854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How the data was built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0837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0837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Key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7180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0837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0837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Forecasting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3133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313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Forecast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9476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83133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8313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Recommendation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1772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542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542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Power BI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61772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65429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6542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Business impact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40680"/>
            <a:ext cx="4572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7725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772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team has enough people overall — but workload arrives at the wrong times.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6642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Team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9488"/>
                </a:solidFill>
                <a:latin typeface="Aptos"/>
              </a:rPr>
              <a:t>~1,200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642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calls/day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996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Voice workload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361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A8A1E"/>
                </a:solidFill>
                <a:latin typeface="Aptos"/>
              </a:rPr>
              <a:t>~800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642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tickets/day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2996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Non-voice workload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5361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Aptos"/>
              </a:rPr>
              <a:t>7.5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9" y="16642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productive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2996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Per person /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88920"/>
            <a:ext cx="52120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3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ptos"/>
              </a:rPr>
              <a:t>WHAT GOES WRONG?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Monday workload is about +20%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Q4 workload is about +30%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Staffing stays flat at 70 people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Backlog builds and customers wait longer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2-day SLA is repeatedly missed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788920"/>
            <a:ext cx="5349240" cy="260604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C8FA"/>
                </a:solidFill>
                <a:latin typeface="Aptos"/>
              </a:rPr>
              <a:t>BOTTOM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The challenge is timing —
not simply total headcount.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ECDE1"/>
                </a:solidFill>
                <a:latin typeface="Aptos"/>
              </a:rPr>
              <a:t>Source: project scenario and synthetic operations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Project Objective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Four steps turn raw operations data into a staffing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783080"/>
            <a:ext cx="50292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196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744"/>
                </a:solidFill>
                <a:latin typeface="Aptos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2 years of realistic operations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800600"/>
            <a:ext cx="192024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8371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0876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783080"/>
            <a:ext cx="50292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196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744"/>
                </a:solidFill>
                <a:latin typeface="Aptos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Calculate workload, backlog, lead time and FTE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800600"/>
            <a:ext cx="192024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8371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9488"/>
                </a:solidFill>
                <a:latin typeface="Aptos"/>
              </a:rPr>
              <a:t>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50292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196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744"/>
                </a:solidFill>
                <a:latin typeface="Aptos"/>
              </a:rPr>
              <a:t>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Predict the next 30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00600"/>
            <a:ext cx="192024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371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A8A1E"/>
                </a:solidFill>
                <a:latin typeface="Aptos"/>
              </a:rPr>
              <a:t>Holt-Winters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39" y="150876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1783080"/>
            <a:ext cx="50292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18196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744"/>
                </a:solidFill>
                <a:latin typeface="Aptos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88036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Visualize results and recommend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4800600"/>
            <a:ext cx="192024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19" y="483717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6A34A"/>
                </a:solidFill>
                <a:latin typeface="Aptos"/>
              </a:rPr>
              <a:t>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Deliverable: an executive dashboard + practical staffing recommendation.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The KPIs — Explained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These are the numbers management needs to understand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99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624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Hours of work arriving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73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Calls × AHT + tickets × handling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99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624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Hours the team can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73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FTE × 7.5 productive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87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8A1E"/>
                </a:solidFill>
                <a:latin typeface="Aptos"/>
              </a:rPr>
              <a:t>AHT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51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Average call handling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62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Total call time ÷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587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Backlog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51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Work left unfinished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862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Previous backlog + workload − capacity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776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8A1E"/>
                </a:solidFill>
                <a:latin typeface="Aptos"/>
              </a:rPr>
              <a:t>Lead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7398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Days needed to clear 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0507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Backlog ÷ daily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61188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776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FTE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7398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People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507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Workload ÷ 7.5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00600"/>
            <a:ext cx="5212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965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SLA breach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9286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Days missing the 2-day promise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239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Breach days ÷ total days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40680"/>
            <a:ext cx="10927080" cy="59436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05272"/>
            <a:ext cx="1056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Example: 510 workload hours ÷ 7.5 = 68 FTE needed.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How the Data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project uses synthetic data designed to behave like a real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874519"/>
            <a:ext cx="6400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110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Base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1,200 calls + 800 tickets/day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1874519"/>
            <a:ext cx="6400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9110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Seasonality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1546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Q4 +30% • Summer −20%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15584" y="1874519"/>
            <a:ext cx="6400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19110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Day of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1546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Monday +20% • Sunday −50%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874519"/>
            <a:ext cx="6400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9110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Month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31546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Days 26–31: +15%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5208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51008" y="1874519"/>
            <a:ext cx="6400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8" y="191109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Random variation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1546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Poisson + Normal noise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731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681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Jan 2023 → Dec 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5212080"/>
            <a:ext cx="5349240" cy="731520"/>
          </a:xfrm>
          <a:prstGeom prst="round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6A34A"/>
                </a:solidFill>
                <a:latin typeface="Aptos"/>
              </a:rPr>
              <a:t>Synthetic data = no customer data; realistic patterns for testing.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What the Data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Five simple signals explain why the operation struggles.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389888"/>
            <a:ext cx="1645920" cy="502920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961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ptos"/>
              </a:rPr>
              <a:t>+30%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399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Q4 repeats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399032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~20 FTE short in Nov–Dec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50008"/>
            <a:ext cx="1645920" cy="502920"/>
          </a:xfrm>
          <a:prstGeom prst="roundRect">
            <a:avLst/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A8A1E"/>
                </a:solidFill>
                <a:latin typeface="Aptos"/>
              </a:rPr>
              <a:t>20+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Backlog compounds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59152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Lead time rose from 0.5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310128"/>
            <a:ext cx="1645920" cy="5029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1985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119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Monday spike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319272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Sunday needs only 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270248"/>
            <a:ext cx="1645920" cy="502920"/>
          </a:xfrm>
          <a:prstGeom prst="round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997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Annual average balanced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279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Timing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279392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Summer/weekends have spare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5230368"/>
            <a:ext cx="1645920" cy="502920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00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ptos"/>
              </a:rPr>
              <a:t>14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239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SLA 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239512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2-day promise missed continuously since Nov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Forecasting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Holt-Winters captures level, trend and weekly seasonality.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WHY HOLT-WINTERS?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Handles trend + seasonality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Fast to run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Easy to explain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Useful for short-term planning</a:t>
            </a:r>
          </a:p>
          <a:p>
            <a:pPr>
              <a:spcAft>
                <a:spcPts val="7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Not a black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182880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914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Weekly seasonality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MODEL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701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715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15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Last 30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3741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3741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Next 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Seasonality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325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7 days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0" y="4526280"/>
          <a:ext cx="4572000" cy="960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Forecast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model was tested on the final 30 days of the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1143000" cy="502920"/>
          </a:xfrm>
          <a:prstGeom prst="round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8366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744"/>
                </a:solidFill>
                <a:latin typeface="Aptos"/>
              </a:rPr>
              <a:t>5.4%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94.6%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59" y="1737360"/>
            <a:ext cx="1143000" cy="5029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8366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744"/>
                </a:solidFill>
                <a:latin typeface="Aptos"/>
              </a:rPr>
              <a:t>30.8 hrs/day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99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Average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1737360"/>
            <a:ext cx="1143000" cy="502920"/>
          </a:xfrm>
          <a:prstGeom prst="round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8366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744"/>
                </a:solidFill>
                <a:latin typeface="Aptos"/>
              </a:rPr>
              <a:t>40.1 hrs/day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99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No major misses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10744200" cy="155448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96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C8FA"/>
                </a:solidFill>
                <a:latin typeface="Aptos"/>
              </a:rPr>
              <a:t>IN PLAIN ENGLISH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8056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the model forecasts 700 hours, the project estimate puts actual workload around 662–738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AEB"/>
                </a:solidFill>
                <a:latin typeface="Aptos"/>
              </a:rPr>
              <a:t>Useful for short-term capacity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Next 30 Days: Forecast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key question is how to close the capacity gap without treating every day the same.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FTE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356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2744"/>
                </a:solidFill>
                <a:latin typeface="Aptos"/>
              </a:rPr>
              <a:t>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356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Average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+20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4356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Monday 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8A1E"/>
                </a:solidFill>
                <a:latin typeface="Aptos"/>
              </a:rPr>
              <a:t>+49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0604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WHAT THE FORECAST SAYS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2744"/>
                </a:solidFill>
                <a:latin typeface="Aptos"/>
              </a:rPr>
              <a:t>Average: 90 FTE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2744"/>
                </a:solidFill>
                <a:latin typeface="Aptos"/>
              </a:rPr>
              <a:t>Monday: 119 FTE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2744"/>
                </a:solidFill>
                <a:latin typeface="Aptos"/>
              </a:rPr>
              <a:t>Sunday: 54 FTE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606040"/>
            <a:ext cx="60807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880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STAFFING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918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744"/>
                </a:solidFill>
                <a:latin typeface="Aptos"/>
              </a:rPr>
              <a:t>Shift 10 FTEs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Weekend → Monday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918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6A34A"/>
                </a:solidFill>
                <a:latin typeface="Aptos"/>
              </a:rPr>
              <a:t>€0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7673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744"/>
                </a:solidFill>
                <a:latin typeface="Aptos"/>
              </a:rPr>
              <a:t>Hire 10 FTEs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767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Cover baseline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767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DC2626"/>
                </a:solidFill>
                <a:latin typeface="Aptos"/>
              </a:rPr>
              <a:t>~€500k/yr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24281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744"/>
                </a:solidFill>
                <a:latin typeface="Aptos"/>
              </a:rPr>
              <a:t>20 part-time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428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Weekend flexibility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2428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6A34A"/>
                </a:solidFill>
                <a:latin typeface="Aptos"/>
              </a:rPr>
              <a:t>~€150k/yr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71830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744"/>
                </a:solidFill>
                <a:latin typeface="Aptos"/>
              </a:rPr>
              <a:t>Automate 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718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Reduce manual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7183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6A34A"/>
                </a:solidFill>
                <a:latin typeface="Aptos"/>
              </a:rPr>
              <a:t>~€50k one-time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074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Potential saving vs blanket hiring: ~€400k/year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4"/>
                </a:solidFill>
                <a:latin typeface="Aptos"/>
              </a:rP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Four pages, each designed for a different business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4114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842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What is happening?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134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KPI cards +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60320"/>
            <a:ext cx="4526280" cy="2011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560320"/>
            <a:ext cx="301752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4114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9105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Voice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9842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Where are calls changing?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3134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Calls, AHT, workload, forecast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60320"/>
            <a:ext cx="4526280" cy="2011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560320"/>
            <a:ext cx="301752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566160"/>
            <a:ext cx="4114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0273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538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Non-Voice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99592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Where is ticket backlog?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Volume, resolution, backlog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572000"/>
            <a:ext cx="4526280" cy="2011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572000"/>
            <a:ext cx="3017520" cy="201168"/>
          </a:xfrm>
          <a:prstGeom prst="rect">
            <a:avLst/>
          </a:prstGeom>
          <a:solidFill>
            <a:srgbClr val="EA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333756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566160"/>
            <a:ext cx="411480" cy="34747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0273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538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Capacity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99592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Where do we need people?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FTE gap, forecast, scenarios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572000"/>
            <a:ext cx="4526280" cy="2011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572000"/>
            <a:ext cx="30175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2744"/>
                </a:solidFill>
                <a:latin typeface="Aptos"/>
              </a:rPr>
              <a:t>Management sees the problem → forecast → action in one place.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Insurance Operations Analytics  •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BUSINESS IMPACT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14600" cy="1188720"/>
          </a:xfrm>
          <a:prstGeom prst="roundRect">
            <a:avLst/>
          </a:prstGeom>
          <a:solidFill>
            <a:srgbClr val="1F3558"/>
          </a:solidFill>
          <a:ln>
            <a:solidFill>
              <a:srgbClr val="36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8E1"/>
                </a:solidFill>
                <a:latin typeface="Aptos"/>
              </a:rPr>
              <a:t>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A34A"/>
                </a:solidFill>
                <a:latin typeface="Aptos"/>
              </a:rPr>
              <a:t>−60%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14600" cy="1188720"/>
          </a:xfrm>
          <a:prstGeom prst="roundRect">
            <a:avLst/>
          </a:prstGeom>
          <a:solidFill>
            <a:srgbClr val="1F3558"/>
          </a:solidFill>
          <a:ln>
            <a:solidFill>
              <a:srgbClr val="36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645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8E1"/>
                </a:solidFill>
                <a:latin typeface="Aptos"/>
              </a:rP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D9488"/>
                </a:solidFill>
                <a:latin typeface="Aptos"/>
              </a:rPr>
              <a:t>&lt; 2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514600" cy="1188720"/>
          </a:xfrm>
          <a:prstGeom prst="roundRect">
            <a:avLst/>
          </a:prstGeom>
          <a:solidFill>
            <a:srgbClr val="1F3558"/>
          </a:solidFill>
          <a:ln>
            <a:solidFill>
              <a:srgbClr val="36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8E1"/>
                </a:solidFill>
                <a:latin typeface="Aptos"/>
              </a:rPr>
              <a:t>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95%+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417320"/>
            <a:ext cx="2514600" cy="1188720"/>
          </a:xfrm>
          <a:prstGeom prst="roundRect">
            <a:avLst/>
          </a:prstGeom>
          <a:solidFill>
            <a:srgbClr val="1F3558"/>
          </a:solidFill>
          <a:ln>
            <a:solidFill>
              <a:srgbClr val="36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645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8E1"/>
                </a:solidFill>
                <a:latin typeface="Aptos"/>
              </a:rPr>
              <a:t>Potential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EA8A1E"/>
                </a:solidFill>
                <a:latin typeface="Aptos"/>
              </a:rPr>
              <a:t>~€400k/year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C8FA"/>
                </a:solidFill>
                <a:latin typeface="Aptos"/>
              </a:rPr>
              <a:t>THE FOUR TAKEAWAYS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384048" cy="347472"/>
          </a:xfrm>
          <a:prstGeom prst="roundRect">
            <a:avLst/>
          </a:prstGeom>
          <a:solidFill>
            <a:srgbClr val="29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4845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3931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It is mainly a scheduling problem, not a permanent headcount problem.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384048" cy="347472"/>
          </a:xfrm>
          <a:prstGeom prst="roundRect">
            <a:avLst/>
          </a:prstGeom>
          <a:solidFill>
            <a:srgbClr val="29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5137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4223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Q4 peaks create backlog that can carry into the next year.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17720"/>
            <a:ext cx="384048" cy="347472"/>
          </a:xfrm>
          <a:prstGeom prst="roundRect">
            <a:avLst/>
          </a:prstGeom>
          <a:solidFill>
            <a:srgbClr val="29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5429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64515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The forecast provides a practical 30-day capacity signal.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20640"/>
            <a:ext cx="384048" cy="347472"/>
          </a:xfrm>
          <a:prstGeom prst="roundRect">
            <a:avLst/>
          </a:prstGeom>
          <a:solidFill>
            <a:srgbClr val="294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5721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ED7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480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Power BI turns the analysis into an action-oriented management 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60720"/>
            <a:ext cx="10607040" cy="530352"/>
          </a:xfrm>
          <a:prstGeom prst="roundRect">
            <a:avLst/>
          </a:prstGeom>
          <a:solidFill>
            <a:srgbClr val="27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88873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“We don’t need more people — we need the right people at the right time.”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0080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DE1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Operations Analytics — Simple 12-Slide Presentation</dc:title>
  <dc:subject/>
  <dc:creator>Prepared for interview / stakeholder review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