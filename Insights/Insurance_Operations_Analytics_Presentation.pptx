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FTE needed</c:v>
                </c:pt>
              </c:strCache>
            </c:strRef>
          </c:tx>
          <c:invertIfNegative val="1"/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119</c:v>
                </c:pt>
                <c:pt idx="1">
                  <c:v>88</c:v>
                </c:pt>
                <c:pt idx="2">
                  <c:v>87</c:v>
                </c:pt>
                <c:pt idx="3">
                  <c:v>89</c:v>
                </c:pt>
                <c:pt idx="4">
                  <c:v>91</c:v>
                </c:pt>
                <c:pt idx="5">
                  <c:v>68</c:v>
                </c:pt>
                <c:pt idx="6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79-42C3-9232-E8A7FCC4A3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3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Workload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</c:v>
                </c:pt>
                <c:pt idx="1">
                  <c:v>91</c:v>
                </c:pt>
                <c:pt idx="2">
                  <c:v>98</c:v>
                </c:pt>
                <c:pt idx="3">
                  <c:v>88</c:v>
                </c:pt>
                <c:pt idx="4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ED4-475E-B75A-22E6AC0F6C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Capacity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70</c:v>
                </c:pt>
                <c:pt idx="1">
                  <c:v>70</c:v>
                </c:pt>
                <c:pt idx="2">
                  <c:v>70</c:v>
                </c:pt>
                <c:pt idx="3">
                  <c:v>80</c:v>
                </c:pt>
                <c:pt idx="4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ED4-475E-B75A-22E6AC0F6C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10"/>
          <c:min val="5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18791784"/>
        <c:crosses val="autoZero"/>
        <c:crossBetween val="between"/>
        <c:majorUnit val="10"/>
      </c:valAx>
    </c:plotArea>
    <c:legend>
      <c:legendPos val="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30575" cy="68580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8961120" y="1028700"/>
            <a:ext cx="3230880" cy="3657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Tools:</a:t>
            </a:r>
            <a:r>
              <a:rPr lang="en-IN"/>
              <a:t> </a:t>
            </a:r>
            <a:endParaRPr lang="en-IN" dirty="0"/>
          </a:p>
        </p:txBody>
      </p:sp>
      <p:sp>
        <p:nvSpPr>
          <p:cNvPr id="5" name="Rounded Rectangle 4"/>
          <p:cNvSpPr/>
          <p:nvPr/>
        </p:nvSpPr>
        <p:spPr>
          <a:xfrm>
            <a:off x="685800" y="594360"/>
            <a:ext cx="2331720" cy="329184"/>
          </a:xfrm>
          <a:prstGeom prst="roundRect">
            <a:avLst/>
          </a:prstGeom>
          <a:solidFill>
            <a:srgbClr val="22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804672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dirty="0">
                <a:solidFill>
                  <a:srgbClr val="FFFFFF"/>
                </a:solidFill>
                <a:latin typeface="Aptos"/>
              </a:rPr>
              <a:t>Insurance Operations
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88920"/>
            <a:ext cx="768096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CBDCFF"/>
                </a:solidFill>
                <a:latin typeface="Aptos"/>
              </a:rPr>
              <a:t>Workload Forecasting &amp; Capacity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29000"/>
            <a:ext cx="71323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DCE4F0"/>
                </a:solidFill>
                <a:latin typeface="Aptos"/>
              </a:rPr>
              <a:t>A data-driven approach to solving backlog and SLA breaches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251960"/>
            <a:ext cx="7635240" cy="1325880"/>
          </a:xfrm>
          <a:prstGeom prst="roundRect">
            <a:avLst/>
          </a:prstGeom>
          <a:solidFill>
            <a:srgbClr val="1E2D49"/>
          </a:solidFill>
          <a:ln>
            <a:solidFill>
              <a:srgbClr val="3D5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10972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8CBEFF"/>
                </a:solidFill>
                <a:latin typeface="Aptos"/>
              </a:rPr>
              <a:t>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722376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FFFFFF"/>
                </a:solidFill>
                <a:latin typeface="Aptos"/>
              </a:rPr>
              <a:t>Predict workload → calculate FTE needs → recommend staffing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02368" y="3145423"/>
            <a:ext cx="713232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BED6FF"/>
                </a:solidFill>
                <a:latin typeface="Aptos"/>
              </a:rPr>
              <a:t>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76407" y="3145423"/>
            <a:ext cx="161528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BED6FF"/>
                </a:solidFill>
                <a:latin typeface="Aptos"/>
              </a:rPr>
              <a:t>Holt-Winters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9188" y="3743355"/>
            <a:ext cx="960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BED6FF"/>
                </a:solidFill>
                <a:latin typeface="Aptos"/>
              </a:rPr>
              <a:t>Power</a:t>
            </a:r>
            <a:r>
              <a:rPr sz="1000" b="1" dirty="0">
                <a:solidFill>
                  <a:srgbClr val="BED6FF"/>
                </a:solidFill>
                <a:latin typeface="Aptos"/>
              </a:rPr>
              <a:t> 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571500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500" b="1" dirty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3145423"/>
            <a:ext cx="84124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BED6FF"/>
                </a:solidFill>
                <a:latin typeface="Aptos"/>
              </a:rPr>
              <a:t>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2203A"/>
                </a:solidFill>
                <a:latin typeface="Aptos"/>
              </a:rPr>
              <a:t>The Problem &amp; 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The operational challenge is not just volume — it is when the volume arrives.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8404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Apto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1097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2203A"/>
                </a:solidFill>
                <a:latin typeface="Aptos"/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1284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people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1371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03A"/>
                </a:solidFill>
                <a:latin typeface="Aptos"/>
              </a:rPr>
              <a:t>~500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99008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work hours / 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657600"/>
            <a:ext cx="1417320" cy="329184"/>
          </a:xfrm>
          <a:prstGeom prst="roundRect">
            <a:avLst/>
          </a:prstGeom>
          <a:solidFill>
            <a:srgbClr val="FE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689604"/>
            <a:ext cx="1417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DC2626"/>
                </a:solidFill>
                <a:latin typeface="Aptos"/>
              </a:rPr>
              <a:t>MONDAY +20%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3657600"/>
            <a:ext cx="1143000" cy="329184"/>
          </a:xfrm>
          <a:prstGeom prst="roundRect">
            <a:avLst/>
          </a:prstGeom>
          <a:solidFill>
            <a:srgbClr val="FFF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23160" y="3689604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Q4 +30%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51960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Flat staffing → backlog builds → SLA breaches → longer customer wait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508760"/>
            <a:ext cx="20116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2363EB"/>
                </a:solidFill>
                <a:latin typeface="Aptos"/>
              </a:rPr>
              <a:t> </a:t>
            </a:r>
            <a:r>
              <a:rPr sz="1600" b="1" dirty="0">
                <a:solidFill>
                  <a:srgbClr val="2363EB"/>
                </a:solidFill>
                <a:latin typeface="Aptos"/>
              </a:rPr>
              <a:t>APPROACH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1920240"/>
            <a:ext cx="63550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20640" y="2167128"/>
            <a:ext cx="502920" cy="329184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0" y="219913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363EB"/>
                </a:solidFill>
                <a:latin typeface="Aptos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2084832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12203A"/>
                </a:solidFill>
                <a:latin typeface="Aptos"/>
              </a:rPr>
              <a:t>Simulate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084832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2 years of daily voice + non-voice workload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852928"/>
            <a:ext cx="63550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120640" y="3099816"/>
            <a:ext cx="502920" cy="329184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20640" y="3131820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363EB"/>
                </a:solidFill>
                <a:latin typeface="Apto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301752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03A"/>
                </a:solidFill>
                <a:latin typeface="Aptos"/>
              </a:rPr>
              <a:t>Measure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017520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SQL KPIs: backlog, lead time, FTE gap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92040" y="3785616"/>
            <a:ext cx="63550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120640" y="4032504"/>
            <a:ext cx="502920" cy="329184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20640" y="406450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363EB"/>
                </a:solidFill>
                <a:latin typeface="Apto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3950208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03A"/>
                </a:solidFill>
                <a:latin typeface="Aptos"/>
              </a:rPr>
              <a:t>Forecast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50208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Next 30 days with Holt-Winters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92040" y="4718304"/>
            <a:ext cx="63550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20640" y="4965192"/>
            <a:ext cx="502920" cy="329184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20640" y="4997196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363EB"/>
                </a:solidFill>
                <a:latin typeface="Aptos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4882896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03A"/>
                </a:solidFill>
                <a:latin typeface="Aptos"/>
              </a:rPr>
              <a:t>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882896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Recommendations + Power BI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Insurance Operations Analytics  | 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2203A"/>
                </a:solidFill>
                <a:latin typeface="Aptos"/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The data points to a timing and capacity-allocation problem.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927080" cy="83210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1481328"/>
            <a:ext cx="1234440" cy="502920"/>
          </a:xfrm>
          <a:prstGeom prst="roundRect">
            <a:avLst/>
          </a:prstGeom>
          <a:solidFill>
            <a:srgbClr val="FE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554480"/>
            <a:ext cx="117957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DC2626"/>
                </a:solidFill>
                <a:latin typeface="Aptos"/>
              </a:rPr>
              <a:t>+20 FTE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463039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03A"/>
                </a:solidFill>
                <a:latin typeface="Aptos"/>
              </a:rPr>
              <a:t>Q4 crisis repeats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463039"/>
            <a:ext cx="6446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64748B"/>
                </a:solidFill>
                <a:latin typeface="Aptos"/>
              </a:rPr>
              <a:t>Nov–Dec needs repeatable capacity uplift each year.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58568"/>
            <a:ext cx="10927080" cy="83210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68680" y="2414015"/>
            <a:ext cx="1234440" cy="502920"/>
          </a:xfrm>
          <a:prstGeom prst="roundRect">
            <a:avLst/>
          </a:prstGeom>
          <a:solidFill>
            <a:srgbClr val="FFF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2487168"/>
            <a:ext cx="117957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ptos"/>
              </a:rPr>
              <a:t>20+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395727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03A"/>
                </a:solidFill>
                <a:latin typeface="Aptos"/>
              </a:rPr>
              <a:t>Backlog compounds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395727"/>
            <a:ext cx="6446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64748B"/>
                </a:solidFill>
                <a:latin typeface="Aptos"/>
              </a:rPr>
              <a:t>Lead time rose from 0.5 → 20+ days after Q4 2023.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91256"/>
            <a:ext cx="10927080" cy="83210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68680" y="3346703"/>
            <a:ext cx="1234440" cy="50292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419856"/>
            <a:ext cx="117957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363EB"/>
                </a:solidFill>
                <a:latin typeface="Aptos"/>
              </a:rPr>
              <a:t>119 FTE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328415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03A"/>
                </a:solidFill>
                <a:latin typeface="Aptos"/>
              </a:rPr>
              <a:t>Mondays are worst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328415"/>
            <a:ext cx="6446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64748B"/>
                </a:solidFill>
                <a:latin typeface="Aptos"/>
              </a:rPr>
              <a:t>Sunday needs 54 FTE — flat staffing fails both.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23944"/>
            <a:ext cx="10927080" cy="83210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68680" y="4279392"/>
            <a:ext cx="1234440" cy="502920"/>
          </a:xfrm>
          <a:prstGeom prst="roundRect">
            <a:avLst/>
          </a:prstGeom>
          <a:solidFill>
            <a:srgbClr val="E2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4352544"/>
            <a:ext cx="117957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D9488"/>
                </a:solidFill>
                <a:latin typeface="Aptos"/>
              </a:rPr>
              <a:t>Timing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26110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03A"/>
                </a:solidFill>
                <a:latin typeface="Aptos"/>
              </a:rPr>
              <a:t>Not a headcount problem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261104"/>
            <a:ext cx="6446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64748B"/>
                </a:solidFill>
                <a:latin typeface="Aptos"/>
              </a:rPr>
              <a:t>Annual FTE average is balanced; scheduling is the gap.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056631"/>
            <a:ext cx="10927080" cy="83210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68680" y="5212079"/>
            <a:ext cx="1234440" cy="502920"/>
          </a:xfrm>
          <a:prstGeom prst="roundRect">
            <a:avLst/>
          </a:prstGeom>
          <a:solidFill>
            <a:srgbClr val="FE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5285231"/>
            <a:ext cx="117957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DC2626"/>
                </a:solidFill>
                <a:latin typeface="Aptos"/>
              </a:rPr>
              <a:t>14 months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5193792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03A"/>
                </a:solidFill>
                <a:latin typeface="Aptos"/>
              </a:rPr>
              <a:t>SLA breached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5193792"/>
            <a:ext cx="6446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64748B"/>
                </a:solidFill>
                <a:latin typeface="Aptos"/>
              </a:rPr>
              <a:t>2-day promise was missed continuously since Nov 2023.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6144768"/>
            <a:ext cx="10927080" cy="393192"/>
          </a:xfrm>
          <a:prstGeom prst="round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6199632"/>
            <a:ext cx="10469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Signal: recurring peaks + flat staffing = predictable backlog accumulation.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Insurance Operations Analytics  | 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2203A"/>
                </a:solidFill>
                <a:latin typeface="Aptos"/>
              </a:rPr>
              <a:t>Forecast Results &amp;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Holt-Winters forecast: 94.6% accuracy (MAPE 5.4%).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606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527048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64748B"/>
                </a:solidFill>
                <a:latin typeface="Aptos"/>
              </a:rPr>
              <a:t>Avg FTE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10512"/>
            <a:ext cx="2240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363EB"/>
                </a:solidFill>
                <a:latin typeface="Aptos"/>
              </a:rPr>
              <a:t>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1325880"/>
            <a:ext cx="2606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527048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64748B"/>
                </a:solidFill>
                <a:latin typeface="Aptos"/>
              </a:rPr>
              <a:t>Current FTE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810512"/>
            <a:ext cx="2240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203A"/>
                </a:solidFill>
                <a:latin typeface="Aptos"/>
              </a:rPr>
              <a:t>70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325880"/>
            <a:ext cx="2606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1527048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64748B"/>
                </a:solidFill>
                <a:latin typeface="Aptos"/>
              </a:rPr>
              <a:t>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810512"/>
            <a:ext cx="2240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DC2626"/>
                </a:solidFill>
                <a:latin typeface="Aptos"/>
              </a:rPr>
              <a:t>+20 FTEs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24544" y="1325880"/>
            <a:ext cx="2606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89136" y="1527048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64748B"/>
                </a:solidFill>
                <a:latin typeface="Aptos"/>
              </a:rPr>
              <a:t>Peak Monday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9136" y="1810512"/>
            <a:ext cx="2240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59E0B"/>
                </a:solidFill>
                <a:latin typeface="Aptos"/>
              </a:rPr>
              <a:t>+49 FTEs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651760"/>
            <a:ext cx="45720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288036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363EB"/>
                </a:solidFill>
                <a:latin typeface="Aptos"/>
              </a:rPr>
              <a:t>30-DAY CAPACITY SIGNAL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868680" y="3246120"/>
          <a:ext cx="406908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5440680" y="2651760"/>
            <a:ext cx="61264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15000" y="288036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6A34A"/>
                </a:solidFill>
                <a:latin typeface="Aptos"/>
              </a:rPr>
              <a:t>RECOMMENDATION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3218688"/>
            <a:ext cx="4389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2203A"/>
                </a:solidFill>
                <a:latin typeface="Aptos"/>
              </a:rPr>
              <a:t>Don't hire 20 permanent.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3675887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E293B"/>
                </a:solidFill>
                <a:latin typeface="Aptos"/>
              </a:rPr>
              <a:t>Shift 10 FTEs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675887"/>
            <a:ext cx="2240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weekends → Mondays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3675887"/>
            <a:ext cx="1325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50" b="1">
                <a:solidFill>
                  <a:srgbClr val="16A34A"/>
                </a:solidFill>
                <a:latin typeface="Aptos"/>
              </a:rPr>
              <a:t>€0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4133087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dirty="0">
                <a:solidFill>
                  <a:srgbClr val="1E293B"/>
                </a:solidFill>
                <a:latin typeface="Aptos"/>
              </a:rPr>
              <a:t>Hire 10 permanent FTEs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4133087"/>
            <a:ext cx="2240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64748B"/>
                </a:solidFill>
                <a:latin typeface="Aptos"/>
              </a:rPr>
              <a:t>baseline capacity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4133087"/>
            <a:ext cx="1325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50" b="1">
                <a:solidFill>
                  <a:srgbClr val="DC2626"/>
                </a:solidFill>
                <a:latin typeface="Aptos"/>
              </a:rPr>
              <a:t>~€500k/yr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4590288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E293B"/>
                </a:solidFill>
                <a:latin typeface="Aptos"/>
              </a:rPr>
              <a:t>Add 20 part-time staff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590288"/>
            <a:ext cx="2240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weekend flex capacity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4590288"/>
            <a:ext cx="1325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50" b="1">
                <a:solidFill>
                  <a:srgbClr val="16A34A"/>
                </a:solidFill>
                <a:latin typeface="Aptos"/>
              </a:rPr>
              <a:t>~€150k/yr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0" y="5047488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E293B"/>
                </a:solidFill>
                <a:latin typeface="Aptos"/>
              </a:rPr>
              <a:t>Automate email triage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5047488"/>
            <a:ext cx="2240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reduce manual 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5047488"/>
            <a:ext cx="1325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50" b="1">
                <a:solidFill>
                  <a:srgbClr val="16A34A"/>
                </a:solidFill>
                <a:latin typeface="Aptos"/>
              </a:rPr>
              <a:t>~€50k one-time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15000" y="5468112"/>
            <a:ext cx="5394960" cy="438912"/>
          </a:xfrm>
          <a:prstGeom prst="roundRect">
            <a:avLst/>
          </a:prstGeom>
          <a:solidFill>
            <a:srgbClr val="E2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833872" y="5541264"/>
            <a:ext cx="5166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>
                <a:solidFill>
                  <a:srgbClr val="0D9488"/>
                </a:solidFill>
                <a:latin typeface="Aptos"/>
              </a:rPr>
              <a:t>Potential saving vs blanket hiring: ~€400k/year  |  SLA: 0% → 95%+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Insurance Operations Analytics  | 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2203A"/>
                </a:solidFill>
                <a:latin typeface="Aptos"/>
              </a:rPr>
              <a:t>Dashboard Preview &amp;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Power BI turns the forecast into an operational decision tool.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6858000" cy="4480560"/>
          </a:xfrm>
          <a:prstGeom prst="round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4CDFF"/>
                </a:solidFill>
                <a:latin typeface="Aptos"/>
              </a:rPr>
              <a:t>POWER BI  |  CAPACITY PLANNING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965960"/>
            <a:ext cx="1371600" cy="777240"/>
          </a:xfrm>
          <a:prstGeom prst="roundRect">
            <a:avLst/>
          </a:prstGeom>
          <a:solidFill>
            <a:srgbClr val="203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AABEDC"/>
                </a:solidFill>
                <a:latin typeface="Aptos"/>
              </a:rPr>
              <a:t>Backlog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59152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6A34A"/>
                </a:solidFill>
                <a:latin typeface="Aptos"/>
              </a:rPr>
              <a:t>-60%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41448" y="1965960"/>
            <a:ext cx="1371600" cy="777240"/>
          </a:xfrm>
          <a:prstGeom prst="roundRect">
            <a:avLst/>
          </a:prstGeom>
          <a:solidFill>
            <a:srgbClr val="203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32888" y="2103120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AABEDC"/>
                </a:solidFill>
                <a:latin typeface="Aptos"/>
              </a:rPr>
              <a:t>Lead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2359152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D9488"/>
                </a:solidFill>
                <a:latin typeface="Aptos"/>
              </a:rPr>
              <a:t>&lt;2 days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14215" y="1965960"/>
            <a:ext cx="1371600" cy="777240"/>
          </a:xfrm>
          <a:prstGeom prst="roundRect">
            <a:avLst/>
          </a:prstGeom>
          <a:solidFill>
            <a:srgbClr val="203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05656" y="2103120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AABEDC"/>
                </a:solidFill>
                <a:latin typeface="Aptos"/>
              </a:rPr>
              <a:t>FTE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5656" y="2359152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9E0B"/>
                </a:solidFill>
                <a:latin typeface="Aptos"/>
              </a:rPr>
              <a:t>+20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86984" y="1965960"/>
            <a:ext cx="1371600" cy="777240"/>
          </a:xfrm>
          <a:prstGeom prst="roundRect">
            <a:avLst/>
          </a:prstGeom>
          <a:solidFill>
            <a:srgbClr val="203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78424" y="2103120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AABEDC"/>
                </a:solidFill>
                <a:latin typeface="Aptos"/>
              </a:rPr>
              <a:t>SLA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78424" y="2359152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6A34A"/>
                </a:solidFill>
                <a:latin typeface="Aptos"/>
              </a:rPr>
              <a:t>95%+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896112" y="3063240"/>
          <a:ext cx="612648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818120" y="14173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63EB"/>
                </a:solidFill>
                <a:latin typeface="Aptos"/>
              </a:rPr>
              <a:t>4 DASHBOARD PAGES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1828800"/>
            <a:ext cx="3703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01000" y="2020824"/>
            <a:ext cx="384048" cy="329184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01000" y="2052828"/>
            <a:ext cx="3840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363EB"/>
                </a:solidFill>
                <a:latin typeface="Apto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1947672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12203A"/>
                </a:solidFill>
                <a:latin typeface="Aptos"/>
              </a:rPr>
              <a:t>Executive 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1947672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19" b="1">
                <a:solidFill>
                  <a:srgbClr val="64748B"/>
                </a:solidFill>
                <a:latin typeface="Aptos"/>
              </a:rPr>
              <a:t>C-suite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2221992"/>
            <a:ext cx="2651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4748B"/>
                </a:solidFill>
                <a:latin typeface="Aptos"/>
              </a:rPr>
              <a:t>KPIs + recommendations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2651760"/>
            <a:ext cx="3703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001000" y="2843784"/>
            <a:ext cx="384048" cy="329184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01000" y="2875788"/>
            <a:ext cx="3840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363EB"/>
                </a:solidFill>
                <a:latin typeface="Apto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2770632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12203A"/>
                </a:solidFill>
                <a:latin typeface="Aptos"/>
              </a:rPr>
              <a:t>Voice Channel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2770632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19" b="1">
                <a:solidFill>
                  <a:srgbClr val="64748B"/>
                </a:solidFill>
                <a:latin typeface="Aptos"/>
              </a:rPr>
              <a:t>Voice ops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3044952"/>
            <a:ext cx="2651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4748B"/>
                </a:solidFill>
                <a:latin typeface="Aptos"/>
              </a:rPr>
              <a:t>Calls + AHT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8120" y="3474720"/>
            <a:ext cx="3703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001000" y="3666744"/>
            <a:ext cx="384048" cy="329184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01000" y="3698748"/>
            <a:ext cx="3840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363EB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3593591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12203A"/>
                </a:solidFill>
                <a:latin typeface="Aptos"/>
              </a:rPr>
              <a:t>Non-Voice Channel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3593591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19" b="1">
                <a:solidFill>
                  <a:srgbClr val="64748B"/>
                </a:solidFill>
                <a:latin typeface="Aptos"/>
              </a:rPr>
              <a:t>Non-voice ops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3867911"/>
            <a:ext cx="2651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4748B"/>
                </a:solidFill>
                <a:latin typeface="Aptos"/>
              </a:rPr>
              <a:t>Backlog + resolution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18120" y="4297680"/>
            <a:ext cx="3703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001000" y="4489704"/>
            <a:ext cx="384048" cy="329184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01000" y="4521708"/>
            <a:ext cx="3840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363EB"/>
                </a:solidFill>
                <a:latin typeface="Aptos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4416552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12203A"/>
                </a:solidFill>
                <a:latin typeface="Aptos"/>
              </a:rPr>
              <a:t>Capacity Planning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12680" y="4416552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19" b="1">
                <a:solidFill>
                  <a:srgbClr val="64748B"/>
                </a:solidFill>
                <a:latin typeface="Aptos"/>
              </a:rPr>
              <a:t>HR / Finance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40" y="4690872"/>
            <a:ext cx="2651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4748B"/>
                </a:solidFill>
                <a:latin typeface="Aptos"/>
              </a:rPr>
              <a:t>FTE gap + forecast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18120" y="5257800"/>
            <a:ext cx="3703320" cy="777240"/>
          </a:xfrm>
          <a:prstGeom prst="round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46720" y="5413248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B4CDFF"/>
                </a:solidFill>
                <a:latin typeface="Aptos"/>
              </a:rPr>
              <a:t>BUSINESS IMPACT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565099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60% backlog reduction  •  &lt;2-day lead time  •  ~€400k/year potential saving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" y="5989320"/>
            <a:ext cx="6858000" cy="43891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7240" y="6062472"/>
            <a:ext cx="6492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2203A"/>
                </a:solidFill>
                <a:latin typeface="Aptos"/>
              </a:rPr>
              <a:t>"We don’t need more people — we need the right people at the right time."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Insurance Operations Analytics  | 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458</Words>
  <Application>Microsoft Office PowerPoint</Application>
  <PresentationFormat>Widescreen</PresentationFormat>
  <Paragraphs>114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Operations Analytics — Workload Forecasting &amp; Capacity Planning</dc:title>
  <dc:subject>Interview / Stakeholder Review</dc:subject>
  <dc:creator>Analytics Presentation</dc:creator>
  <cp:keywords/>
  <dc:description>generated using python-pptx</dc:description>
  <cp:lastModifiedBy>Rahul Karn</cp:lastModifiedBy>
  <cp:revision>2</cp:revision>
  <dcterms:created xsi:type="dcterms:W3CDTF">2013-01-27T09:14:16Z</dcterms:created>
  <dcterms:modified xsi:type="dcterms:W3CDTF">2026-09-27T17:48:39Z</dcterms:modified>
  <cp:category/>
</cp:coreProperties>
</file>